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6" r:id="rId4"/>
    <p:sldId id="259" r:id="rId5"/>
    <p:sldId id="265" r:id="rId6"/>
    <p:sldId id="267" r:id="rId7"/>
    <p:sldId id="264" r:id="rId8"/>
    <p:sldId id="261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7430"/>
  </p:normalViewPr>
  <p:slideViewPr>
    <p:cSldViewPr snapToGrid="0">
      <p:cViewPr varScale="1">
        <p:scale>
          <a:sx n="95" d="100"/>
          <a:sy n="95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4563B-BA1C-C240-A32C-F2211519C906}" type="datetimeFigureOut">
              <a:rPr lang="en-CN" smtClean="0"/>
              <a:t>6/1/26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0A9AF-D99F-DA44-8C77-E2F5B207027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1858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digital</a:t>
            </a:r>
            <a:r>
              <a:rPr lang="zh-CN" altLang="en-US" dirty="0"/>
              <a:t> </a:t>
            </a:r>
            <a:r>
              <a:rPr lang="en-US" altLang="zh-CN" dirty="0"/>
              <a:t>resources?</a:t>
            </a:r>
            <a:r>
              <a:rPr lang="zh-CN" altLang="en-US" dirty="0"/>
              <a:t> </a:t>
            </a:r>
            <a:r>
              <a:rPr lang="en-US" altLang="zh-CN" b="0" dirty="0"/>
              <a:t>Data</a:t>
            </a:r>
            <a:r>
              <a:rPr lang="zh-CN" altLang="en-US" b="0" dirty="0"/>
              <a:t> </a:t>
            </a:r>
            <a:r>
              <a:rPr lang="en-US" altLang="zh-CN" b="0" dirty="0"/>
              <a:t>and</a:t>
            </a:r>
            <a:r>
              <a:rPr lang="zh-CN" altLang="en-US" b="0" dirty="0"/>
              <a:t> </a:t>
            </a:r>
            <a:r>
              <a:rPr lang="en-US" altLang="zh-CN" b="0" dirty="0"/>
              <a:t>metadata</a:t>
            </a:r>
            <a:r>
              <a:rPr lang="zh-CN" altLang="en-US" b="0" dirty="0"/>
              <a:t> </a:t>
            </a:r>
            <a:r>
              <a:rPr lang="en-US" altLang="zh-CN" b="0" dirty="0"/>
              <a:t>on</a:t>
            </a:r>
            <a:r>
              <a:rPr lang="zh-CN" altLang="en-US" b="0" dirty="0"/>
              <a:t> </a:t>
            </a:r>
            <a:r>
              <a:rPr lang="en-US" altLang="zh-CN" b="0" dirty="0"/>
              <a:t>any</a:t>
            </a:r>
            <a:r>
              <a:rPr lang="zh-CN" altLang="en-US" b="0" dirty="0"/>
              <a:t> </a:t>
            </a:r>
            <a:r>
              <a:rPr lang="en-US" altLang="zh-CN" b="0" dirty="0"/>
              <a:t>type</a:t>
            </a:r>
            <a:r>
              <a:rPr lang="zh-CN" altLang="en-US" b="0" dirty="0"/>
              <a:t> </a:t>
            </a:r>
            <a:r>
              <a:rPr lang="en-US" altLang="zh-CN" b="0" dirty="0"/>
              <a:t>of</a:t>
            </a:r>
            <a:r>
              <a:rPr lang="zh-CN" altLang="en-US" b="0" dirty="0"/>
              <a:t> </a:t>
            </a:r>
            <a:r>
              <a:rPr lang="en-US" altLang="zh-CN" b="0" dirty="0"/>
              <a:t>digital</a:t>
            </a:r>
            <a:r>
              <a:rPr lang="zh-CN" altLang="en-US" b="0" dirty="0"/>
              <a:t> </a:t>
            </a:r>
            <a:r>
              <a:rPr lang="en-US" altLang="zh-CN" b="0" dirty="0"/>
              <a:t>objects:</a:t>
            </a:r>
            <a:r>
              <a:rPr lang="zh-CN" altLang="en-US" b="0" dirty="0"/>
              <a:t> </a:t>
            </a:r>
            <a:r>
              <a:rPr lang="en-US" altLang="zh-CN" b="0" dirty="0"/>
              <a:t>such as ontologies, repositories, analysis algorithms, websites, etc.</a:t>
            </a:r>
            <a:endParaRPr lang="en-CN" altLang="zh-CN" b="0" dirty="0"/>
          </a:p>
          <a:p>
            <a:endParaRPr lang="en-US" altLang="zh-C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0A9AF-D99F-DA44-8C77-E2F5B207027F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097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0A9AF-D99F-DA44-8C77-E2F5B207027F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3911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0A9AF-D99F-DA44-8C77-E2F5B207027F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3977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0A9AF-D99F-DA44-8C77-E2F5B207027F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772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C190-8434-3812-C17B-C1996A1BF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39742-B814-588B-38A2-2950FF7FE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CEC3-B976-7DFF-7B08-069AD064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3F2BB-6FD7-061C-BEE7-86F3FC38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88F5-12AA-61ED-E3A4-393847E1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516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D6D5-40A9-7DCF-2F73-8CD3FE84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D2BA9-EDDB-D2BF-DA69-EE6A41B6B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684E-246F-CBE7-F321-0B658CB7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99965-9C39-B502-4797-F0FEFA6A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903C8-4641-CD7D-2191-4F0CF457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4404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3FB5-548D-44AB-DF52-4AFF8B24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8E6B2-DBE0-6C8E-441C-25692CBB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5E69-535D-DDF2-E5BF-9DF4518B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61E01-0F85-5D51-3B42-87A7B1BE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5D579-1CEF-D9A8-A680-CFDEC3C2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5703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864A-5FE6-3045-DA88-E33289E9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636D3-56F7-5BDD-6DC3-65D802967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4038C-8211-1016-6740-49599DE52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32389-9242-D244-0E8C-EF6D756F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F73F5-50FF-C344-3CF2-B6667686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5502C-9E1E-24D4-D32E-BA24782D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610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4C28-E2B2-177A-A9EC-363D076A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7054F-CC1F-4244-3DB5-DAF3FAB50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B0142-06DC-D392-5E92-076595B5D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71245B-FD3E-710E-C164-F39FDB3B3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FBA2E-0758-9AB2-11F7-84AB38963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21C9F7-CE69-D732-8EED-B300C677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0B2EF-EBD6-422B-0163-4F4B1D26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BBB98-FE98-2C39-5DBB-2FCF39D2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08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5163-BA9E-3A88-5D41-701EBD8C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CDB3E-7AB4-0AA4-F944-2638958F3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47E9A-83A9-55EB-388E-916C8350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15903-D503-A631-28D2-08BA5215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7680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E27E2-752F-FF1E-E0FA-3B26C6D23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CB058-F220-E61A-84EB-F8DA1E23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D0BC7-1A67-B291-C064-0F5A4DF5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010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EF0D-CA31-8526-274F-57D6CCF9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AA4FD-BBAD-076B-183B-D56AA5BAF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C8FB-75F7-B224-20DA-AD9A0E3EC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D8C6A-5D29-2BFC-75DD-975E9B89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A92A4-CDAC-A864-AC16-CF935193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BBA87-7785-116B-A192-080ED161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218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DDBE-6DE2-7E4B-D924-B7DB1E80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CC17A-097A-6A2A-F14A-50904AC6B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83273-C16D-FCB9-B755-3F76644AD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B7714-2703-EFFE-96D4-BCD882D1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141EB-4C3F-B93C-D83F-77CF9327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983A6-8DCC-4219-F6C8-98C1749D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670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0290-56D4-4C48-689E-C6DD5983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61E2B-07DE-94EE-4607-E067DF22C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A9D6B-9808-03A2-7F6E-C3387DF8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20EE8-2393-CE27-D115-B6E72911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6FE0-1C3C-6E3A-A862-1E2F36E4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137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D9442-5BA9-BE93-681B-C9A113F58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95522-0BFD-BD26-A4D9-DC705E19A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1833A-FB2F-875A-648E-D0345585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DF419-95E1-EBED-F301-622DB8AB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AA86F-F9EE-022D-1201-C52A23AB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3100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A5078-153D-0BFA-E81D-02A43593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85F57-4F56-22D4-650F-EFFFC59D2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00A43-4210-2856-A6EF-C4B9C3DE3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AA575-942B-254F-BE71-5C71A9097768}" type="datetimeFigureOut">
              <a:rPr lang="en-CN" smtClean="0"/>
              <a:t>6/1/26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696B5-4C45-3306-C69C-02470D82F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E20C-15AC-F62D-2E72-A7B82ACD6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9ED10-4604-0B47-AD1A-D900E15977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436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-fair.org/fair-principle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identifiers.org/uniprot:P38938" TargetMode="External"/><Relationship Id="rId3" Type="http://schemas.openxmlformats.org/officeDocument/2006/relationships/hyperlink" Target="https://www.doi.org/10.1038/sdata.2016.18" TargetMode="External"/><Relationship Id="rId7" Type="http://schemas.openxmlformats.org/officeDocument/2006/relationships/hyperlink" Target="https://identifiers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3id.org/" TargetMode="External"/><Relationship Id="rId5" Type="http://schemas.openxmlformats.org/officeDocument/2006/relationships/hyperlink" Target="https://purl.org/" TargetMode="External"/><Relationship Id="rId4" Type="http://schemas.openxmlformats.org/officeDocument/2006/relationships/hyperlink" Target="https://www.nature.com/articles/sdata201618" TargetMode="External"/><Relationship Id="rId9" Type="http://schemas.openxmlformats.org/officeDocument/2006/relationships/hyperlink" Target="https://www.uniprot.org/uniprot/P38938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twoc.fpoc.flos.navify.com/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fairvasc-fdp.adaptcentre.ie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dp.radboudumc.nl/" TargetMode="External"/><Relationship Id="rId5" Type="http://schemas.openxmlformats.org/officeDocument/2006/relationships/hyperlink" Target="https://fdp.castoredc.com/fdp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02A7-5A9A-C7AA-FABA-0987A74C6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More into Findability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89E6B-02F1-FB58-8380-4CF1ED152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0212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February</a:t>
            </a:r>
            <a:r>
              <a:rPr lang="zh-CN" altLang="en-US" sz="2800" dirty="0"/>
              <a:t> </a:t>
            </a:r>
            <a:r>
              <a:rPr lang="en-US" altLang="zh-CN" sz="2800" dirty="0"/>
              <a:t>22</a:t>
            </a:r>
            <a:r>
              <a:rPr lang="en-US" altLang="zh-CN" sz="2800" baseline="30000" dirty="0"/>
              <a:t>nd</a:t>
            </a:r>
            <a:r>
              <a:rPr lang="zh-CN" altLang="en-US" sz="2800" dirty="0"/>
              <a:t> </a:t>
            </a:r>
            <a:r>
              <a:rPr lang="en-US" altLang="zh-CN" sz="2800" dirty="0"/>
              <a:t>2024</a:t>
            </a:r>
            <a:endParaRPr lang="en-CN" sz="2800" dirty="0"/>
          </a:p>
        </p:txBody>
      </p:sp>
    </p:spTree>
    <p:extLst>
      <p:ext uri="{BB962C8B-B14F-4D97-AF65-F5344CB8AC3E}">
        <p14:creationId xmlns:p14="http://schemas.microsoft.com/office/powerpoint/2010/main" val="85151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1F81-991E-26EC-AEED-D37D2BF5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Findability</a:t>
            </a: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01EA-FEDD-31E0-8620-241E06C45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5871"/>
            <a:ext cx="11011422" cy="5292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zh-CN" b="1" u="sng" dirty="0">
                <a:latin typeface="Calibri" panose="020F0502020204030204" pitchFamily="34" charset="0"/>
                <a:cs typeface="Calibri" panose="020F0502020204030204" pitchFamily="34" charset="0"/>
              </a:rPr>
              <a:t>Digital</a:t>
            </a:r>
            <a:r>
              <a:rPr lang="zh-CN" alt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u="sng" dirty="0"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r>
              <a:rPr lang="zh-CN" alt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easy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human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computers.”</a:t>
            </a: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CCE1E9-D493-0CB7-A4D6-A7D1034EAEAC}"/>
              </a:ext>
            </a:extLst>
          </p:cNvPr>
          <p:cNvSpPr txBox="1">
            <a:spLocks/>
          </p:cNvSpPr>
          <p:nvPr/>
        </p:nvSpPr>
        <p:spPr>
          <a:xfrm>
            <a:off x="4065494" y="2539312"/>
            <a:ext cx="7404848" cy="3739333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The NMCB </a:t>
            </a:r>
            <a:r>
              <a:rPr lang="en-CN" b="1" dirty="0">
                <a:latin typeface="Calibri" panose="020F0502020204030204" pitchFamily="34" charset="0"/>
                <a:cs typeface="Calibri" panose="020F0502020204030204" pitchFamily="34" charset="0"/>
              </a:rPr>
              <a:t>research data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ab data; biobank data; survey data, etc. </a:t>
            </a:r>
          </a:p>
          <a:p>
            <a:pPr marL="457200" lvl="1" indent="0">
              <a:buNone/>
            </a:pP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The NMCB </a:t>
            </a:r>
            <a:r>
              <a:rPr lang="en-CN" b="1" dirty="0">
                <a:latin typeface="Calibri" panose="020F0502020204030204" pitchFamily="34" charset="0"/>
                <a:cs typeface="Calibri" panose="020F0502020204030204" pitchFamily="34" charset="0"/>
              </a:rPr>
              <a:t>deliverables</a:t>
            </a:r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/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Codes, reports, papers, repostitories, etc.</a:t>
            </a:r>
          </a:p>
          <a:p>
            <a:pPr marL="0" indent="0">
              <a:buNone/>
            </a:pP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(3) The NMCB Consortium </a:t>
            </a:r>
            <a:r>
              <a:rPr lang="en-CN" b="1" dirty="0"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</a:p>
          <a:p>
            <a:pPr lvl="1"/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Website, descriptive information, etc.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9C8B363B-6C51-FB27-29B1-CDF5F3E6D386}"/>
              </a:ext>
            </a:extLst>
          </p:cNvPr>
          <p:cNvCxnSpPr>
            <a:cxnSpLocks/>
          </p:cNvCxnSpPr>
          <p:nvPr/>
        </p:nvCxnSpPr>
        <p:spPr>
          <a:xfrm>
            <a:off x="2164976" y="2275139"/>
            <a:ext cx="1586753" cy="1315226"/>
          </a:xfrm>
          <a:prstGeom prst="curvedConnector3">
            <a:avLst>
              <a:gd name="adj1" fmla="val 84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37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08C211-A446-2365-C56C-00211472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97" y="903799"/>
            <a:ext cx="10926805" cy="50504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9A053F-5C1A-E4C7-B58B-2C70A4E99EB2}"/>
              </a:ext>
            </a:extLst>
          </p:cNvPr>
          <p:cNvSpPr txBox="1"/>
          <p:nvPr/>
        </p:nvSpPr>
        <p:spPr>
          <a:xfrm>
            <a:off x="632597" y="612200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b="1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</a:t>
            </a:r>
            <a:r>
              <a:rPr lang="en-CN" u="sng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https://www.go-fair.org/fair-principles/</a:t>
            </a:r>
            <a:r>
              <a:rPr lang="en-CN" u="sn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187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6635-D03A-F64B-C259-829630047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46" y="486615"/>
            <a:ext cx="4282682" cy="1325563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Findability – F1 </a:t>
            </a: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01DD-C928-3391-62AF-130F3DF29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47" y="1812178"/>
            <a:ext cx="10190836" cy="1105834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Globally unique, persistent, and resolvable identifiers (</a:t>
            </a:r>
            <a:r>
              <a:rPr lang="en-US" b="1" dirty="0"/>
              <a:t>GUPRIs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CN" b="1" dirty="0"/>
              <a:t> </a:t>
            </a:r>
          </a:p>
          <a:p>
            <a:r>
              <a:rPr lang="en-CN" dirty="0"/>
              <a:t>Assign such GUPRIs to every digital resource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858B7-9B7C-A814-B45C-5F467F7CDE41}"/>
              </a:ext>
            </a:extLst>
          </p:cNvPr>
          <p:cNvSpPr txBox="1"/>
          <p:nvPr/>
        </p:nvSpPr>
        <p:spPr>
          <a:xfrm>
            <a:off x="526057" y="3176129"/>
            <a:ext cx="467754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800" dirty="0"/>
              <a:t>DOI is a type of GUPRIs</a:t>
            </a:r>
            <a:endParaRPr lang="en-CN" dirty="0"/>
          </a:p>
          <a:p>
            <a:r>
              <a:rPr lang="en-CN" dirty="0">
                <a:hlinkClick r:id="rId3"/>
              </a:rPr>
              <a:t>https://www.doi.org/10.1038/sdata.2016.18</a:t>
            </a:r>
            <a:r>
              <a:rPr lang="en-CN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64C40-E208-DB50-6A07-B75BDDCA2752}"/>
              </a:ext>
            </a:extLst>
          </p:cNvPr>
          <p:cNvSpPr txBox="1"/>
          <p:nvPr/>
        </p:nvSpPr>
        <p:spPr>
          <a:xfrm>
            <a:off x="6685224" y="3348899"/>
            <a:ext cx="4677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Actual locator of the resource:</a:t>
            </a:r>
          </a:p>
          <a:p>
            <a:r>
              <a:rPr lang="en-US" dirty="0">
                <a:hlinkClick r:id="rId4"/>
              </a:rPr>
              <a:t>https://www.nature.com/articles/sdata201618</a:t>
            </a:r>
            <a:r>
              <a:rPr lang="en-US" dirty="0"/>
              <a:t> </a:t>
            </a:r>
            <a:endParaRPr lang="en-CN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A56975CA-052A-11D2-9923-546109FF1E0E}"/>
              </a:ext>
            </a:extLst>
          </p:cNvPr>
          <p:cNvSpPr/>
          <p:nvPr/>
        </p:nvSpPr>
        <p:spPr>
          <a:xfrm>
            <a:off x="5203599" y="3672064"/>
            <a:ext cx="1174789" cy="30358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543CE-6720-26E3-0208-14653476A071}"/>
              </a:ext>
            </a:extLst>
          </p:cNvPr>
          <p:cNvSpPr txBox="1"/>
          <p:nvPr/>
        </p:nvSpPr>
        <p:spPr>
          <a:xfrm>
            <a:off x="5148337" y="3348899"/>
            <a:ext cx="132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Redirected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A2F1E-4CC9-F365-6F25-A67069DD84FD}"/>
              </a:ext>
            </a:extLst>
          </p:cNvPr>
          <p:cNvSpPr txBox="1"/>
          <p:nvPr/>
        </p:nvSpPr>
        <p:spPr>
          <a:xfrm>
            <a:off x="421253" y="4149118"/>
            <a:ext cx="10190836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CN" sz="2800" dirty="0"/>
              <a:t>Consideration:</a:t>
            </a:r>
            <a:endParaRPr lang="en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PURL system: </a:t>
            </a:r>
            <a:r>
              <a:rPr lang="en-US" sz="2800" dirty="0">
                <a:hlinkClick r:id="rId5"/>
              </a:rPr>
              <a:t>https://purl.org/</a:t>
            </a:r>
            <a:r>
              <a:rPr lang="en-US" sz="28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W3C Permanent Identifier: </a:t>
            </a:r>
            <a:r>
              <a:rPr lang="en-US" sz="2800" dirty="0">
                <a:hlinkClick r:id="rId6"/>
              </a:rPr>
              <a:t>https://w3id.org/</a:t>
            </a:r>
            <a:r>
              <a:rPr lang="en-US" sz="28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Identifiers.org</a:t>
            </a:r>
            <a:r>
              <a:rPr lang="en-US" sz="2800" dirty="0"/>
              <a:t> Resolution Service: </a:t>
            </a:r>
            <a:r>
              <a:rPr lang="en-US" sz="2800" dirty="0">
                <a:hlinkClick r:id="rId7"/>
              </a:rPr>
              <a:t>https://identifiers.org/</a:t>
            </a:r>
            <a:r>
              <a:rPr lang="en-US" sz="2800" dirty="0"/>
              <a:t> </a:t>
            </a:r>
            <a:endParaRPr lang="en-C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C7DCA-7019-E447-1D6D-D2679135D7BA}"/>
              </a:ext>
            </a:extLst>
          </p:cNvPr>
          <p:cNvSpPr txBox="1"/>
          <p:nvPr/>
        </p:nvSpPr>
        <p:spPr>
          <a:xfrm>
            <a:off x="526057" y="6186719"/>
            <a:ext cx="4677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8"/>
              </a:rPr>
              <a:t>https://identifiers.org/uniprot:P38938</a:t>
            </a:r>
            <a:r>
              <a:rPr lang="en-US" dirty="0"/>
              <a:t> 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8A509-C79F-9611-2498-F9627CC4F93C}"/>
              </a:ext>
            </a:extLst>
          </p:cNvPr>
          <p:cNvSpPr txBox="1"/>
          <p:nvPr/>
        </p:nvSpPr>
        <p:spPr>
          <a:xfrm>
            <a:off x="6059558" y="6138468"/>
            <a:ext cx="6132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UniProt</a:t>
            </a:r>
            <a:r>
              <a:rPr lang="en-US" dirty="0"/>
              <a:t> page </a:t>
            </a:r>
            <a:r>
              <a:rPr lang="en-US" dirty="0">
                <a:hlinkClick r:id="rId9"/>
              </a:rPr>
              <a:t>https://www.uniprot.org/uniprot/P38938</a:t>
            </a:r>
            <a:r>
              <a:rPr lang="en-US" dirty="0"/>
              <a:t> </a:t>
            </a:r>
            <a:endParaRPr lang="en-CN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4EEB63C-FABD-BD2A-54CB-3076B77B45B1}"/>
              </a:ext>
            </a:extLst>
          </p:cNvPr>
          <p:cNvSpPr/>
          <p:nvPr/>
        </p:nvSpPr>
        <p:spPr>
          <a:xfrm>
            <a:off x="4724072" y="6404258"/>
            <a:ext cx="1174789" cy="30358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BB8B8-1386-2BA3-57DC-4581CE23CBEC}"/>
              </a:ext>
            </a:extLst>
          </p:cNvPr>
          <p:cNvSpPr txBox="1"/>
          <p:nvPr/>
        </p:nvSpPr>
        <p:spPr>
          <a:xfrm>
            <a:off x="4668810" y="6081093"/>
            <a:ext cx="132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Redirected</a:t>
            </a:r>
          </a:p>
        </p:txBody>
      </p:sp>
    </p:spTree>
    <p:extLst>
      <p:ext uri="{BB962C8B-B14F-4D97-AF65-F5344CB8AC3E}">
        <p14:creationId xmlns:p14="http://schemas.microsoft.com/office/powerpoint/2010/main" val="277936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1" grpId="0"/>
      <p:bldP spid="12" grpId="1" animBg="1"/>
      <p:bldP spid="13" grpId="0"/>
      <p:bldP spid="15" grpId="0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01DD-C928-3391-62AF-130F3DF29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45" y="1653151"/>
            <a:ext cx="6869998" cy="134280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F</a:t>
            </a:r>
            <a:r>
              <a:rPr lang="en-CN" dirty="0"/>
              <a:t>2:Rich metadata, which should </a:t>
            </a:r>
          </a:p>
          <a:p>
            <a:pPr lvl="1"/>
            <a:r>
              <a:rPr lang="en-CN" sz="2600" dirty="0"/>
              <a:t>F3: Link to data </a:t>
            </a:r>
          </a:p>
          <a:p>
            <a:pPr lvl="1"/>
            <a:r>
              <a:rPr lang="en-CN" sz="2600" dirty="0"/>
              <a:t>F4: Be registered in a searchable resource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5F72A6-CCFA-1F93-0793-621568071B51}"/>
              </a:ext>
            </a:extLst>
          </p:cNvPr>
          <p:cNvSpPr txBox="1">
            <a:spLocks/>
          </p:cNvSpPr>
          <p:nvPr/>
        </p:nvSpPr>
        <p:spPr>
          <a:xfrm>
            <a:off x="405445" y="486615"/>
            <a:ext cx="79036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Findability – F2-F4</a:t>
            </a: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33A8164-4EB3-73FB-2FA1-860C6F56BC7D}"/>
              </a:ext>
            </a:extLst>
          </p:cNvPr>
          <p:cNvSpPr txBox="1">
            <a:spLocks/>
          </p:cNvSpPr>
          <p:nvPr/>
        </p:nvSpPr>
        <p:spPr>
          <a:xfrm>
            <a:off x="-159024" y="3377975"/>
            <a:ext cx="11542017" cy="3335695"/>
          </a:xfrm>
          <a:prstGeom prst="rect">
            <a:avLst/>
          </a:prstGeom>
          <a:ln w="1270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Font typeface="Arial" panose="020B0604020202020204" pitchFamily="34" charset="0"/>
              <a:buAutoNum type="arabicParenBoth"/>
            </a:pPr>
            <a:r>
              <a:rPr lang="en-CN" sz="2800" dirty="0">
                <a:latin typeface="Calibri" panose="020F0502020204030204" pitchFamily="34" charset="0"/>
                <a:cs typeface="Calibri" panose="020F0502020204030204" pitchFamily="34" charset="0"/>
              </a:rPr>
              <a:t>The metadata of NMCB research data 			</a:t>
            </a:r>
          </a:p>
          <a:p>
            <a:pPr lvl="2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 a single SQL dataset: title, description, license, distribution, format, last change,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71550" lvl="1" indent="-514350">
              <a:buFont typeface="Arial" panose="020B0604020202020204" pitchFamily="34" charset="0"/>
              <a:buAutoNum type="arabicParenBoth"/>
            </a:pPr>
            <a:r>
              <a:rPr lang="en-CN" sz="2800" dirty="0">
                <a:latin typeface="Calibri" panose="020F0502020204030204" pitchFamily="34" charset="0"/>
                <a:cs typeface="Calibri" panose="020F0502020204030204" pitchFamily="34" charset="0"/>
              </a:rPr>
              <a:t>The metadata of the NMCB deliverables: </a:t>
            </a:r>
          </a:p>
          <a:p>
            <a:pPr lvl="2"/>
            <a:r>
              <a:rPr lang="en-CN" sz="2400" dirty="0">
                <a:latin typeface="Calibri" panose="020F0502020204030204" pitchFamily="34" charset="0"/>
                <a:cs typeface="Calibri" panose="020F0502020204030204" pitchFamily="34" charset="0"/>
              </a:rPr>
              <a:t>For a guideline document: title, description, type, homepage, creation year, etc.</a:t>
            </a:r>
          </a:p>
          <a:p>
            <a:pPr marL="457200" lvl="1" indent="0">
              <a:buNone/>
            </a:pPr>
            <a:r>
              <a:rPr lang="en-CN" sz="2800" dirty="0">
                <a:latin typeface="Calibri" panose="020F0502020204030204" pitchFamily="34" charset="0"/>
                <a:cs typeface="Calibri" panose="020F0502020204030204" pitchFamily="34" charset="0"/>
              </a:rPr>
              <a:t>(3) The metadata of the NMCB Consortium information</a:t>
            </a:r>
          </a:p>
          <a:p>
            <a:pPr lvl="2"/>
            <a:r>
              <a:rPr lang="en-CN" sz="2400" dirty="0">
                <a:latin typeface="Calibri" panose="020F0502020204030204" pitchFamily="34" charset="0"/>
                <a:cs typeface="Calibri" panose="020F0502020204030204" pitchFamily="34" charset="0"/>
              </a:rPr>
              <a:t>Project name, funder, start year, affiliation, etc. </a:t>
            </a:r>
          </a:p>
        </p:txBody>
      </p:sp>
    </p:spTree>
    <p:extLst>
      <p:ext uri="{BB962C8B-B14F-4D97-AF65-F5344CB8AC3E}">
        <p14:creationId xmlns:p14="http://schemas.microsoft.com/office/powerpoint/2010/main" val="109008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6635-D03A-F64B-C259-829630047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8231"/>
            <a:ext cx="2886558" cy="5843908"/>
          </a:xfrm>
        </p:spPr>
        <p:txBody>
          <a:bodyPr>
            <a:normAutofit/>
          </a:bodyPr>
          <a:lstStyle/>
          <a:p>
            <a:pPr algn="ctr"/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Findability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NMCB 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Research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Deliverables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N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B93A03-8E28-7AE9-CC42-FCEF7732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558" y="306563"/>
            <a:ext cx="5082408" cy="6244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82D469-97F7-16B0-611C-B2C77425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620" y="306563"/>
            <a:ext cx="3927231" cy="4513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C86419-450A-A97D-754E-C6C1C093AFAC}"/>
              </a:ext>
            </a:extLst>
          </p:cNvPr>
          <p:cNvSpPr txBox="1"/>
          <p:nvPr/>
        </p:nvSpPr>
        <p:spPr>
          <a:xfrm>
            <a:off x="8806070" y="5166441"/>
            <a:ext cx="31010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Note: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r>
              <a:rPr lang="en-US" altLang="zh-CN" sz="2800" b="1" dirty="0"/>
              <a:t>Find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it</a:t>
            </a:r>
            <a:r>
              <a:rPr lang="zh-CN" altLang="en-US" sz="2800" b="1" dirty="0"/>
              <a:t> </a:t>
            </a:r>
            <a:r>
              <a:rPr lang="en-US" altLang="zh-CN" sz="2800" dirty="0"/>
              <a:t>does</a:t>
            </a:r>
            <a:r>
              <a:rPr lang="zh-CN" altLang="en-US" sz="2800" dirty="0"/>
              <a:t> </a:t>
            </a:r>
            <a:r>
              <a:rPr lang="en-US" altLang="zh-CN" sz="2800" dirty="0"/>
              <a:t>not</a:t>
            </a:r>
            <a:r>
              <a:rPr lang="zh-CN" altLang="en-US" sz="2800" dirty="0"/>
              <a:t> </a:t>
            </a:r>
            <a:r>
              <a:rPr lang="en-US" altLang="zh-CN" sz="2800" dirty="0"/>
              <a:t>mean</a:t>
            </a:r>
            <a:r>
              <a:rPr lang="zh-CN" altLang="en-US" sz="2800" dirty="0"/>
              <a:t> </a:t>
            </a:r>
            <a:r>
              <a:rPr lang="en-US" altLang="zh-CN" sz="2800" b="1" dirty="0"/>
              <a:t>Access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it</a:t>
            </a:r>
            <a:endParaRPr lang="en-CN" sz="2800" b="1" dirty="0"/>
          </a:p>
        </p:txBody>
      </p:sp>
    </p:spTree>
    <p:extLst>
      <p:ext uri="{BB962C8B-B14F-4D97-AF65-F5344CB8AC3E}">
        <p14:creationId xmlns:p14="http://schemas.microsoft.com/office/powerpoint/2010/main" val="391505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6635-D03A-F64B-C259-829630047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8231"/>
            <a:ext cx="2809417" cy="5843908"/>
          </a:xfrm>
        </p:spPr>
        <p:txBody>
          <a:bodyPr>
            <a:normAutofit/>
          </a:bodyPr>
          <a:lstStyle/>
          <a:p>
            <a:pPr algn="ctr"/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Findability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NMCB 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Consortium</a:t>
            </a:r>
            <a:b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N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C125D-A1A3-8C3F-DA38-77C8C79C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7" y="0"/>
            <a:ext cx="5120881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6097A-1936-9B00-C029-6BC4E7D89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145" y="0"/>
            <a:ext cx="4078514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E0066D3-6AEF-62D0-16A8-F9E081C332C9}"/>
              </a:ext>
            </a:extLst>
          </p:cNvPr>
          <p:cNvSpPr/>
          <p:nvPr/>
        </p:nvSpPr>
        <p:spPr>
          <a:xfrm>
            <a:off x="7930298" y="0"/>
            <a:ext cx="3658728" cy="15365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293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1F81-991E-26EC-AEED-D37D2BF5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2" y="386491"/>
            <a:ext cx="4787348" cy="1325563"/>
          </a:xfrm>
        </p:spPr>
        <p:txBody>
          <a:bodyPr/>
          <a:lstStyle/>
          <a:p>
            <a:r>
              <a:rPr lang="en-US" altLang="zh-CN" b="1" dirty="0"/>
              <a:t>Metadata </a:t>
            </a:r>
            <a:br>
              <a:rPr lang="en-US" altLang="zh-CN" b="1" dirty="0"/>
            </a:br>
            <a:r>
              <a:rPr lang="en-US" altLang="zh-CN" b="1" dirty="0"/>
              <a:t>Schema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01EA-FEDD-31E0-8620-241E06C45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2" y="2146201"/>
            <a:ext cx="3747053" cy="3598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“A structured framework or set of guidelines that specifies which types of information (metadata) should be provided about data, documents, or other digital resources.”</a:t>
            </a:r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A0130-2F8C-FE62-C771-BB4553E2D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172" y="270396"/>
            <a:ext cx="7669696" cy="63172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1329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1F81-991E-26EC-AEED-D37D2BF5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2" y="386491"/>
            <a:ext cx="4787348" cy="1325563"/>
          </a:xfrm>
        </p:spPr>
        <p:txBody>
          <a:bodyPr/>
          <a:lstStyle/>
          <a:p>
            <a:r>
              <a:rPr lang="en-US" altLang="zh-CN" b="1" dirty="0"/>
              <a:t>Metadata </a:t>
            </a:r>
            <a:br>
              <a:rPr lang="en-US" altLang="zh-CN" b="1" dirty="0"/>
            </a:br>
            <a:r>
              <a:rPr lang="en-US" altLang="zh-CN" b="1" dirty="0"/>
              <a:t>Schema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01EA-FEDD-31E0-8620-241E06C45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2" y="2146201"/>
            <a:ext cx="3747053" cy="3598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“A structured framework or set of guidelines that specifies which types of information (metadata) should be provided about data, documents, or other digital resources.”</a:t>
            </a:r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A0130-2F8C-FE62-C771-BB4553E2D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172" y="270396"/>
            <a:ext cx="7669696" cy="63172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514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B724-8E1C-4D5D-566A-D008A105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26" y="771317"/>
            <a:ext cx="3018183" cy="5315365"/>
          </a:xfrm>
        </p:spPr>
        <p:txBody>
          <a:bodyPr>
            <a:normAutofit/>
          </a:bodyPr>
          <a:lstStyle/>
          <a:p>
            <a:r>
              <a:rPr lang="en-CN" dirty="0"/>
              <a:t>So the </a:t>
            </a:r>
            <a:r>
              <a:rPr lang="en-CN" b="1" dirty="0"/>
              <a:t>metadata</a:t>
            </a:r>
            <a:br>
              <a:rPr lang="en-CN" dirty="0"/>
            </a:br>
            <a:r>
              <a:rPr lang="en-CN" dirty="0"/>
              <a:t>following the schema</a:t>
            </a:r>
            <a:br>
              <a:rPr lang="en-CN" dirty="0"/>
            </a:br>
            <a:r>
              <a:rPr lang="en-CN" dirty="0"/>
              <a:t>might look like: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70E77-176A-2049-52A4-E077624AB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383" y="771318"/>
            <a:ext cx="7993542" cy="53153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70E8A3A-A8E4-0CBF-3CEE-79C3B8752D28}"/>
              </a:ext>
            </a:extLst>
          </p:cNvPr>
          <p:cNvSpPr/>
          <p:nvPr/>
        </p:nvSpPr>
        <p:spPr>
          <a:xfrm>
            <a:off x="3558209" y="1610139"/>
            <a:ext cx="3597965" cy="5367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65C17B-58C6-BE36-B9BB-0E62C68C7A7C}"/>
              </a:ext>
            </a:extLst>
          </p:cNvPr>
          <p:cNvSpPr/>
          <p:nvPr/>
        </p:nvSpPr>
        <p:spPr>
          <a:xfrm>
            <a:off x="5645427" y="3890133"/>
            <a:ext cx="4731025" cy="82101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3084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B724-8E1C-4D5D-566A-D008A105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3" y="280984"/>
            <a:ext cx="3018183" cy="2685554"/>
          </a:xfrm>
        </p:spPr>
        <p:txBody>
          <a:bodyPr>
            <a:normAutofit fontScale="90000"/>
          </a:bodyPr>
          <a:lstStyle/>
          <a:p>
            <a:r>
              <a:rPr lang="en-CN" dirty="0"/>
              <a:t>Such metadata can be rendered on the Web: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87FAD-0D96-9F4E-68A3-EBF9B2AD0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60" y="280984"/>
            <a:ext cx="7772400" cy="26855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05B6EE-CE2C-5DD8-128F-F0A9C1D90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613" y="1362655"/>
            <a:ext cx="4920355" cy="47509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F0F29A-0108-15C0-5E5D-5ED4A197D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028" y="2292623"/>
            <a:ext cx="4353137" cy="43241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79BBB2-2DE2-4280-BCFA-41BA3219B0D6}"/>
              </a:ext>
            </a:extLst>
          </p:cNvPr>
          <p:cNvSpPr txBox="1"/>
          <p:nvPr/>
        </p:nvSpPr>
        <p:spPr>
          <a:xfrm>
            <a:off x="305447" y="4636231"/>
            <a:ext cx="3532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Examples:</a:t>
            </a:r>
          </a:p>
          <a:p>
            <a:r>
              <a:rPr lang="en-CN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https://fdp.castoredc.com/fdp</a:t>
            </a:r>
            <a:r>
              <a:rPr lang="en-CN" dirty="0"/>
              <a:t> </a:t>
            </a:r>
          </a:p>
          <a:p>
            <a:r>
              <a:rPr lang="en-US" dirty="0">
                <a:hlinkClick r:id="rId6"/>
              </a:rPr>
              <a:t>https://fdp.radboudumc.nl/</a:t>
            </a:r>
            <a:r>
              <a:rPr lang="en-CN" dirty="0"/>
              <a:t> </a:t>
            </a:r>
          </a:p>
          <a:p>
            <a:r>
              <a:rPr lang="en-US" dirty="0">
                <a:hlinkClick r:id="rId7"/>
              </a:rPr>
              <a:t>https://fairvasc-fdp.adaptcentre.ie/</a:t>
            </a:r>
            <a:r>
              <a:rPr lang="en-CN" dirty="0"/>
              <a:t> </a:t>
            </a:r>
          </a:p>
          <a:p>
            <a:r>
              <a:rPr lang="en-US" dirty="0">
                <a:hlinkClick r:id="rId8"/>
              </a:rPr>
              <a:t>https://twoc.fpoc.flos.navify.com/</a:t>
            </a:r>
            <a:r>
              <a:rPr lang="en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775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E397-E99A-6416-20E4-05256190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 Short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355A3-D54D-F3BF-0D6D-97367578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42" y="0"/>
            <a:ext cx="4159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7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485</Words>
  <Application>Microsoft Macintosh PowerPoint</Application>
  <PresentationFormat>Widescreen</PresentationFormat>
  <Paragraphs>59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More into Findability</vt:lpstr>
      <vt:lpstr>Findability</vt:lpstr>
      <vt:lpstr>PowerPoint Presentation</vt:lpstr>
      <vt:lpstr>Findability – F1 </vt:lpstr>
      <vt:lpstr>PowerPoint Presentation</vt:lpstr>
      <vt:lpstr>Findability of  NMCB  Research Data &amp; Deliverables </vt:lpstr>
      <vt:lpstr>Findability of  NMCB  Consortium </vt:lpstr>
      <vt:lpstr>Metadata  Schema</vt:lpstr>
      <vt:lpstr>Metadata  Schema</vt:lpstr>
      <vt:lpstr>So the metadata following the schema might look like:</vt:lpstr>
      <vt:lpstr>Such metadata can be rendered on the Web:</vt:lpstr>
      <vt:lpstr>In Short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39</cp:revision>
  <dcterms:created xsi:type="dcterms:W3CDTF">2024-02-22T10:59:24Z</dcterms:created>
  <dcterms:modified xsi:type="dcterms:W3CDTF">2026-06-01T20:53:11Z</dcterms:modified>
</cp:coreProperties>
</file>